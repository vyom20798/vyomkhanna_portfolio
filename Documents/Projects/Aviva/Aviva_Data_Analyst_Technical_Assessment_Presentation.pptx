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1F5F"/>
                </a:solidFill>
                <a:latin typeface="Arial"/>
              </a:rPr>
              <a:t>Total Contract Value (£)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 Value</c:v>
                </c:pt>
              </c:strCache>
            </c:strRef>
          </c:tx>
          <c:spPr>
            <a:solidFill>
              <a:srgbClr val="1B1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1F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1F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1F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1F5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Jerry</c:v>
                  </c:pt>
                  <c:pt idx="1">
                    <c:v>Westgale</c:v>
                  </c:pt>
                  <c:pt idx="2">
                    <c:v>Thomson</c:v>
                  </c:pt>
                  <c:pt idx="3">
                    <c:v>Harvey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3241699</c:v>
                </c:pt>
                <c:pt idx="1">
                  <c:v>3068233</c:v>
                </c:pt>
                <c:pt idx="2">
                  <c:v>881443</c:v>
                </c:pt>
                <c:pt idx="3">
                  <c:v>891119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1F5F"/>
                </a:solidFill>
                <a:latin typeface="Arial"/>
              </a:rPr>
              <a:t>Bonus Earnings (£)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Bonus Earnings</c:v>
                </c:pt>
              </c:strCache>
            </c:strRef>
          </c:tx>
          <c:spPr>
            <a:solidFill>
              <a:srgbClr val="F5C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Jerry</c:v>
                  </c:pt>
                  <c:pt idx="1">
                    <c:v>Westgale</c:v>
                  </c:pt>
                  <c:pt idx="2">
                    <c:v>Thomson</c:v>
                  </c:pt>
                  <c:pt idx="3">
                    <c:v>Harvey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4242</c:v>
                </c:pt>
                <c:pt idx="1">
                  <c:v>3234</c:v>
                </c:pt>
                <c:pt idx="2">
                  <c:v>3174</c:v>
                </c:pt>
                <c:pt idx="3">
                  <c:v>828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Team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People Department  |  Supervisor Succession Planning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metrics we analysed across 12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5029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Scorecard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value, bonus sales, leave and overtime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succeed Frank as Supervisor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Measures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would strengthen future decisions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Next Steps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actions identified from the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664208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months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bonus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1188720"/>
            <a:ext cx="155448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118872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Products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66544" y="1664208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lookup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earnings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2464" y="1188720"/>
            <a:ext cx="155448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118872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5616" y="1664208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employee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31536" y="1188720"/>
            <a:ext cx="155448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18872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1664208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hours worked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 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50608" y="1188720"/>
            <a:ext cx="155448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0608" y="118872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96328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Summary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664208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profiles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pay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datasets connected via Employee Reference ID in Power BI data model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5448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1143000"/>
            <a:ext cx="128016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43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143000"/>
            <a:ext cx="128016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143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Earnings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128016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43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Signed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143000"/>
            <a:ext cx="96012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43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143000"/>
            <a:ext cx="960120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143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Hours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143000"/>
            <a:ext cx="1335024" cy="41148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14300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554480"/>
            <a:ext cx="155448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554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Jerry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1554480"/>
            <a:ext cx="1280160" cy="566928"/>
          </a:xfrm>
          <a:prstGeom prst="rect">
            <a:avLst/>
          </a:prstGeom>
          <a:solidFill>
            <a:srgbClr val="F5C4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1554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£3,241,699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1554480"/>
            <a:ext cx="1280160" cy="566928"/>
          </a:xfrm>
          <a:prstGeom prst="rect">
            <a:avLst/>
          </a:prstGeom>
          <a:solidFill>
            <a:srgbClr val="F5C4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1554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£4,242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1554480"/>
            <a:ext cx="128016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5544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554480"/>
            <a:ext cx="9601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5544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1554480"/>
            <a:ext cx="9601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5544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1554480"/>
            <a:ext cx="1335024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55448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12140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1214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Westgale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0" y="212140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£3,068,233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212140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£3,234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212140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21214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2121408"/>
            <a:ext cx="960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12140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2121408"/>
            <a:ext cx="960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12140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2121408"/>
            <a:ext cx="1335024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212140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688336"/>
            <a:ext cx="155448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6883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Kirsty Thomson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0" y="2688336"/>
            <a:ext cx="128016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6883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£881,443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08960" y="2688336"/>
            <a:ext cx="128016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26883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£3,174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89120" y="2688336"/>
            <a:ext cx="128016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26883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0" y="2688336"/>
            <a:ext cx="9601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0" y="268833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629400" y="2688336"/>
            <a:ext cx="960120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268833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589520" y="2688336"/>
            <a:ext cx="1335024" cy="56692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0" y="268833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3255264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325526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Harvey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828800" y="325526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0" y="32552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£891,119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108960" y="325526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32552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£828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389120" y="325526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2552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669280" y="3255264"/>
            <a:ext cx="960120" cy="566928"/>
          </a:xfrm>
          <a:prstGeom prst="rect">
            <a:avLst/>
          </a:prstGeom>
          <a:solidFill>
            <a:srgbClr val="FFE0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0" y="325526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29400" y="3255264"/>
            <a:ext cx="960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25526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589520" y="3255264"/>
            <a:ext cx="1335024" cy="566928"/>
          </a:xfrm>
          <a:prstGeom prst="rect">
            <a:avLst/>
          </a:prstGeom>
          <a:solidFill>
            <a:srgbClr val="FFE0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25526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top performer in category   |   Red = area of concern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a Glance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Jerry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Sales Executive  |  25 years tenure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£3.24M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£4,242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Earnings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2286000"/>
            <a:ext cx="19202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C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Excellent  |  Highest revenue &amp; bonus performance  |  Low absenteeism  |  Strong OT commitment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8321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Strong alternative: Sophie Westgale — zero leave days, £3.07M revenue, Excellent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Measures to Add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column exists but unused. Track complaints per employee to assess client relationship quality — critical for a supervisor role.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Renewal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490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clients returning? Repeat business indicates quality of service and relationship management beyond just signing volume.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Contract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7249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signed 197 contracts but low revenue. Average value reveals quality vs quantity — a key distinction for promotion decisions.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Indicators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249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deputised for Frank? Evidence of leadership behaviour is essential when assessing supervisor readiness.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59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activity shows ambition and investment in growth — relevant for assessing long-term supervisory potential.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097280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182880" cy="10972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OT Hour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959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metric. Who generates the most value relative to extra hours worked? Prevents rewarding effort over output.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Investigate William Harvey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1234440"/>
            <a:ext cx="16459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leave days and Under Review evaluation requires an immediate HR conversation. Performance plan or exit review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85953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Plan for Fiona McIntosh Exit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002536"/>
            <a:ext cx="16459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002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31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leaving date is set (~90 days). Recruitment or handover planning should begin now to avoid a service gap.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79192"/>
            <a:ext cx="85953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Confirm Tom Jerry's Promotion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770632"/>
            <a:ext cx="1645920" cy="256032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770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formal succession process, briefing, and handover plan from Frank to Tom Jerry.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85953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Recognise Kirsty Thomson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3538728"/>
            <a:ext cx="1645920" cy="256032"/>
          </a:xfrm>
          <a:prstGeom prst="rect">
            <a:avLst/>
          </a:prstGeom>
          <a:solidFill>
            <a:srgbClr val="1B1F5F"/>
          </a:solidFill>
          <a:ln w="12700">
            <a:solidFill>
              <a:srgbClr val="1B1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538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67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contracts signed is outstanding volume. Consider a performance reward or different target structure to retain her.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15384"/>
            <a:ext cx="859536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61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Complaints Deep Dive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4306824"/>
            <a:ext cx="1645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306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535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complaints data by employee. Identify patterns before finalising any promotion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Jerry — highest revenue, bonus performance, low absenteeism, Excellent evaluation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Vyom Khanna  |  People Department Presentation  |  2024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Team Performance Review 2023</dc:title>
  <dc:subject>PptxGenJS Presentation</dc:subject>
  <dc:creator>PptxGenJS</dc:creator>
  <cp:lastModifiedBy>PptxGenJS</cp:lastModifiedBy>
  <cp:revision>1</cp:revision>
  <dcterms:created xsi:type="dcterms:W3CDTF">2026-03-26T12:36:51Z</dcterms:created>
  <dcterms:modified xsi:type="dcterms:W3CDTF">2026-03-26T12:36:51Z</dcterms:modified>
</cp:coreProperties>
</file>