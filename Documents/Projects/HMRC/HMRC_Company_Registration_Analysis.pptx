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37562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00183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5029200" cy="36576"/>
          </a:xfrm>
          <a:prstGeom prst="rect">
            <a:avLst/>
          </a:prstGeom>
          <a:solidFill>
            <a:srgbClr val="37562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Trends  |  Incorporation Patterns  |  Company Status  |  Geographic Insights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749040"/>
            <a:ext cx="2011680" cy="1005840"/>
          </a:xfrm>
          <a:prstGeom prst="rect">
            <a:avLst/>
          </a:prstGeom>
          <a:solidFill>
            <a:srgbClr val="0018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50,029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Companies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3749040"/>
            <a:ext cx="2011680" cy="1005840"/>
          </a:xfrm>
          <a:prstGeom prst="rect">
            <a:avLst/>
          </a:prstGeom>
          <a:solidFill>
            <a:srgbClr val="0018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45,729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749040"/>
            <a:ext cx="2011680" cy="1005840"/>
          </a:xfrm>
          <a:prstGeom prst="rect">
            <a:avLst/>
          </a:prstGeom>
          <a:solidFill>
            <a:srgbClr val="0018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3,393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Liquidation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3749040"/>
            <a:ext cx="2011680" cy="1005840"/>
          </a:xfrm>
          <a:prstGeom prst="rect">
            <a:avLst/>
          </a:prstGeom>
          <a:solidFill>
            <a:srgbClr val="0018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Which Sector Shows the Most Consistent Growth?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turnover analysis 2021-2025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91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solidFill>
            <a:srgbClr val="E2EFDA"/>
          </a:solidFill>
          <a:ln w="19050">
            <a:solidFill>
              <a:srgbClr val="375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784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Construction is the most consistent sector — average growth of 6.2% with the lowest standard deviation of 5.8 across all four year-on-year periods.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21031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508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508760"/>
            <a:ext cx="100584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1508760"/>
            <a:ext cx="100584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508760"/>
            <a:ext cx="100584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2120" y="1508760"/>
            <a:ext cx="100584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1508760"/>
            <a:ext cx="100584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Growth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35240" y="1508760"/>
            <a:ext cx="100584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1810512"/>
            <a:ext cx="210312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847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18105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18105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18105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181051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83680" y="18105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35240" y="18105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208483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121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77440" y="208483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2121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29000" y="208483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2121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80560" y="208483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121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32120" y="208483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32120" y="2121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83680" y="208483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2121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635240" y="208483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2121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" y="2359152"/>
            <a:ext cx="210312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377440" y="235915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29000" y="2359152"/>
            <a:ext cx="100584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2900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480560" y="2359152"/>
            <a:ext cx="100584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32120" y="235915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3212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83680" y="2359152"/>
            <a:ext cx="100584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635240" y="2359152"/>
            <a:ext cx="100584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3524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28600" y="263347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2670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Logistics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377440" y="263347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0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29000" y="263347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29000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480560" y="263347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80560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532120" y="263347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32120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583680" y="263347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0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635240" y="263347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35240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28600" y="2907792"/>
            <a:ext cx="210312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&amp; Repair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377440" y="290779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77440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-11.2%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29000" y="290779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29000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480560" y="290779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80560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-17.4%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532120" y="290779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532120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583680" y="290779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83680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-8.9%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635240" y="290779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635240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28600" y="318211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4320" y="3218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377440" y="31821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7744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42.4%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29000" y="31821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2900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80560" y="31821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8056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532120" y="31821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53212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583680" y="31821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58368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635240" y="318211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3524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28600" y="3456432"/>
            <a:ext cx="210312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4320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377440" y="345643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377440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-30.9%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29000" y="345643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29000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480560" y="345643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480560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5532120" y="345643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32120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6583680" y="3456432"/>
            <a:ext cx="100584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83680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7635240" y="345643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635240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228600" y="373075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74320" y="3767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2377440" y="373075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37744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-21.0%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3429000" y="373075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42900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57.4%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4480560" y="373075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48056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5532120" y="373075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53212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583680" y="373075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58368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7635240" y="373075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63524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228600" y="4005072"/>
            <a:ext cx="210312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74320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2377440" y="400507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37744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-20.9%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3429000" y="400507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42900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57.4%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4480560" y="4005072"/>
            <a:ext cx="100584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48056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532120" y="4005072"/>
            <a:ext cx="100584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53212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6583680" y="400507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58368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7635240" y="400507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63524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228600" y="427939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74320" y="4315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2377440" y="427939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377440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-22.0%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3429000" y="427939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429000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58.8%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4480560" y="427939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480560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5532120" y="4279392"/>
            <a:ext cx="1005840" cy="256032"/>
          </a:xfrm>
          <a:prstGeom prst="rect">
            <a:avLst/>
          </a:prstGeom>
          <a:solidFill>
            <a:srgbClr val="FFCCC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532120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-0.7%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6583680" y="427939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583680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7635240" y="4279392"/>
            <a:ext cx="100584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635240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228600" y="4526280"/>
            <a:ext cx="8686800" cy="411480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65760" y="45537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Construction: steady 3-11% growth every year  |  Retail: strongest overall (+20.6% avg) but volatile  |  Maintenance &amp; Repair: only sector in consistent decline  |  Green/Red shading = positive/negative growth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Most Common Month to Incorporate — Is it Universal?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50,029 companies by incorporation month and sector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91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solidFill>
            <a:srgbClr val="E2EFDA"/>
          </a:solidFill>
          <a:ln w="19050">
            <a:solidFill>
              <a:srgbClr val="375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784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March is the most common overall (4,743 companies). This is NOT universal — Education and Maintenance peak in October, Consultancy and Healthcare in September. December is always the quietest month (-26% below November).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6217920" cy="2377440"/>
          </a:xfrm>
          <a:prstGeom prst="rect">
            <a:avLst/>
          </a:prstGeom>
          <a:solidFill>
            <a:srgbClr val="F8F9FA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2129513"/>
            <a:ext cx="463296" cy="1710967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56488" y="2045958"/>
            <a:ext cx="463296" cy="1794522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05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74648" y="1828800"/>
            <a:ext cx="463296" cy="2011680"/>
          </a:xfrm>
          <a:prstGeom prst="rect">
            <a:avLst/>
          </a:prstGeom>
          <a:solidFill>
            <a:srgbClr val="37562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721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28928" y="1572768"/>
            <a:ext cx="554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4,743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92808" y="2054441"/>
            <a:ext cx="463296" cy="1786039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10968" y="2126544"/>
            <a:ext cx="463296" cy="171393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8353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9128" y="2168533"/>
            <a:ext cx="463296" cy="1671947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169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47288" y="2055289"/>
            <a:ext cx="463296" cy="1785191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965448" y="2141389"/>
            <a:ext cx="463296" cy="1699091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801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3608" y="2002696"/>
            <a:ext cx="463296" cy="1837784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617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01768" y="1897934"/>
            <a:ext cx="463296" cy="194254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19928" y="1963675"/>
            <a:ext cx="463296" cy="1876805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249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8088" y="2451857"/>
            <a:ext cx="463296" cy="1388623"/>
          </a:xfrm>
          <a:prstGeom prst="rect">
            <a:avLst/>
          </a:prstGeom>
          <a:solidFill>
            <a:srgbClr val="C0000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0656" y="3922776"/>
            <a:ext cx="51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92368" y="2195825"/>
            <a:ext cx="554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3,274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1581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= Peak (4,743)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= Lowest (3,274)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1508760"/>
            <a:ext cx="2331720" cy="2377440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15727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Exceptions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1828800"/>
            <a:ext cx="2331720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1901952"/>
            <a:ext cx="4572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1920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0" y="19202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peak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29400" y="2157984"/>
            <a:ext cx="45720" cy="201168"/>
          </a:xfrm>
          <a:prstGeom prst="rect">
            <a:avLst/>
          </a:prstGeom>
          <a:solidFill>
            <a:srgbClr val="1F6B75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2176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46720" y="21762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peak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629400" y="2414016"/>
            <a:ext cx="45720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24323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046720" y="2432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peak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629400" y="2670048"/>
            <a:ext cx="4572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2688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46720" y="2688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peak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629400" y="2926080"/>
            <a:ext cx="45720" cy="201168"/>
          </a:xfrm>
          <a:prstGeom prst="rect">
            <a:avLst/>
          </a:prstGeom>
          <a:solidFill>
            <a:srgbClr val="1F6B75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48272" y="29443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29443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peak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629400" y="3182112"/>
            <a:ext cx="45720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48272" y="3200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&amp; Repair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46720" y="32004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peak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629400" y="3438144"/>
            <a:ext cx="4572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8272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046720" y="3456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peak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629400" y="3694176"/>
            <a:ext cx="45720" cy="201168"/>
          </a:xfrm>
          <a:prstGeom prst="rect">
            <a:avLst/>
          </a:prstGeom>
          <a:solidFill>
            <a:srgbClr val="1F6B75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48272" y="37124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046720" y="37124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peak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28600" y="4160520"/>
            <a:ext cx="8686800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March? Likely driven by new tax year planning (UK tax year starts April). Why December dips? Holiday period reduces admin activity. Not universal — academic and service sectors align to different business calendars.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How Have Closed Companies Changed Over Time?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closure trends 2010-2024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91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solidFill>
            <a:srgbClr val="FFCC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784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Closures rose sharply from 59 in 2020 to a peak of 160 in 2022 — likely reflecting delayed COVID-19 business failures. Numbers then declined to 135 in 2023 and 44 in 2024. Data quality note: 100 companies show a closed date of 1900 — flagged as likely default values.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8412480" cy="2560320"/>
          </a:xfrm>
          <a:prstGeom prst="rect">
            <a:avLst/>
          </a:prstGeom>
          <a:solidFill>
            <a:srgbClr val="F8F9FA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849624"/>
            <a:ext cx="524256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18032" y="3931920"/>
            <a:ext cx="524256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456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78864" y="3931920"/>
            <a:ext cx="524256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2288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39696" y="4041648"/>
            <a:ext cx="524256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00528" y="3973068"/>
            <a:ext cx="524256" cy="96012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3952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61360" y="3931920"/>
            <a:ext cx="524256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4784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22192" y="3877056"/>
            <a:ext cx="524256" cy="192024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383024" y="3767328"/>
            <a:ext cx="524256" cy="301752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6448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43856" y="3739896"/>
            <a:ext cx="524256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7280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504688" y="3643884"/>
            <a:ext cx="524256" cy="42519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65520" y="3259836"/>
            <a:ext cx="524256" cy="809244"/>
          </a:xfrm>
          <a:prstGeom prst="rect">
            <a:avLst/>
          </a:prstGeom>
          <a:solidFill>
            <a:srgbClr val="FF8C0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28944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010656" y="3022092"/>
            <a:ext cx="633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26352" y="2450592"/>
            <a:ext cx="524256" cy="1618488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9776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87184" y="1874520"/>
            <a:ext cx="524256" cy="2194560"/>
          </a:xfrm>
          <a:prstGeom prst="rect">
            <a:avLst/>
          </a:prstGeom>
          <a:solidFill>
            <a:srgbClr val="C0000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0608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132320" y="1636776"/>
            <a:ext cx="633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748016" y="2217420"/>
            <a:ext cx="524256" cy="185166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11440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308848" y="3465576"/>
            <a:ext cx="524256" cy="603504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2272" y="4151376"/>
            <a:ext cx="59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011680" y="4206240"/>
            <a:ext cx="1280160" cy="548640"/>
          </a:xfrm>
          <a:prstGeom prst="rect">
            <a:avLst/>
          </a:prstGeom>
          <a:solidFill>
            <a:srgbClr val="FFF3CC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84832" y="4261104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begins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(2020: 59)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03520" y="4206240"/>
            <a:ext cx="1280160" cy="548640"/>
          </a:xfrm>
          <a:prstGeom prst="rect">
            <a:avLst/>
          </a:prstGeom>
          <a:solidFill>
            <a:srgbClr val="FFCCC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4261104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closures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(2022: 160)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98080" y="4206240"/>
            <a:ext cx="128016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4261104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decline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(2024: 44)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Additional Insights — Trends and Geography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incorporation surge, geographic concentration and sector 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91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06240" cy="3931920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14400"/>
            <a:ext cx="420624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87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Incorporations Surge (2010-2024)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3931920" cy="2560320"/>
          </a:xfrm>
          <a:prstGeom prst="rect">
            <a:avLst/>
          </a:prstGeom>
          <a:solidFill>
            <a:srgbClr val="F8F9FA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544637"/>
            <a:ext cx="382016" cy="295843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48360" y="3446022"/>
            <a:ext cx="382016" cy="394458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78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285240" y="3318201"/>
            <a:ext cx="382016" cy="522279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866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22120" y="3179385"/>
            <a:ext cx="382016" cy="661095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8554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159000" y="2978720"/>
            <a:ext cx="382016" cy="86176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242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95880" y="2779430"/>
            <a:ext cx="382016" cy="106105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930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032760" y="2502828"/>
            <a:ext cx="382016" cy="1337652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618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69640" y="1684362"/>
            <a:ext cx="382016" cy="2156118"/>
          </a:xfrm>
          <a:prstGeom prst="rect">
            <a:avLst/>
          </a:prstGeom>
          <a:solidFill>
            <a:srgbClr val="37562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306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33064" y="146490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06520" y="1554480"/>
            <a:ext cx="382016" cy="2286000"/>
          </a:xfrm>
          <a:prstGeom prst="rect">
            <a:avLst/>
          </a:prstGeom>
          <a:solidFill>
            <a:srgbClr val="37562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9944" y="3922776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69944" y="1335024"/>
            <a:ext cx="455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4005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2023-24 saw a 61% surge in new incorporations — the sharpest acceleration in the dataset. Post-pandemic entrepreneurship and economic restructuring are likely drivers.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914400"/>
            <a:ext cx="4251960" cy="1828800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914400"/>
            <a:ext cx="4251960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987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— Top 5 Areas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1298448"/>
            <a:ext cx="4251960" cy="237744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335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(London)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13350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1,734 companies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13350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91.7%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75320" y="1335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Liq: 6.9%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1554480"/>
            <a:ext cx="4251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591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(London)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2200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1,708 companies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90.4%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75320" y="15910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Liq: 7.6%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1810512"/>
            <a:ext cx="4251960" cy="237744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1847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(London)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72200" y="1847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1,598 companies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1847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91.7%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75320" y="1847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Liq: 6.5%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2066544"/>
            <a:ext cx="4251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(Birmingham)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72200" y="2103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1,574 companies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0" y="2103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91.6%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75320" y="2103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Liq: 6.9%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2322576"/>
            <a:ext cx="4251960" cy="237744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3591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(London)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72200" y="2359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1,346 companies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15200" y="2359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91.9%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275320" y="23591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Liq: 5.9%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00600" y="2606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top 5 areas are London postcodes. London dominates UK company registrations by volume.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2834640"/>
            <a:ext cx="4251960" cy="201168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— Standout Growth Sector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754880" y="3218688"/>
            <a:ext cx="406908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577840" y="32552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£1.22bn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858000" y="3255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54880" y="3511296"/>
            <a:ext cx="4069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35478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577840" y="35478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£1.73bn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85800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+42.4%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54880" y="3803904"/>
            <a:ext cx="406908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46320" y="3840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577840" y="3840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£1.91bn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858000" y="3840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+10.3%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754880" y="4096512"/>
            <a:ext cx="4069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46320" y="41330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577840" y="4133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£2.25bn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858000" y="4133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+17.7%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754880" y="4389120"/>
            <a:ext cx="406908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46320" y="44256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577840" y="44256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£2.52bn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858000" y="44256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+12.1%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800600" y="4681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107% total growth 2021-2025 — 4 consecutive years of positive growth.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data quality notes and key conclusions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91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8686800" cy="7132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87552"/>
            <a:ext cx="45720" cy="713232"/>
          </a:xfrm>
          <a:prstGeom prst="rect">
            <a:avLst/>
          </a:prstGeom>
          <a:solidFill>
            <a:srgbClr val="37562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60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Construction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06070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consistent sector: avg 6.2% growth, lowest variance (5.8 std dev). Retail strongest overall. Maintenance &amp; Repair only sector in consistent decline.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792224"/>
            <a:ext cx="8686800" cy="7132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792224"/>
            <a:ext cx="45720" cy="713232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March Incorporations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186537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is the overall peak (4,743) likely linked to UK tax year planning. Not universal: Education and Maintenance peak October, Healthcare and Consultancy peak September.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596896"/>
            <a:ext cx="8686800" cy="7132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596896"/>
            <a:ext cx="45720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Closure Spike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7004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tripled from 2019-2022, peaking at 160 in 2022 — consistent with delayed COVID failures. Sharp decline to 44 by 2024.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401568"/>
            <a:ext cx="8686800" cy="7132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401568"/>
            <a:ext cx="4572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74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Geographic &amp; Trend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47472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dominates registrations. 2023-24 incorporation surge (+61%) is the most significant trend in the dataset. Retail shows 4 consecutive years of strong growth.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206240"/>
            <a:ext cx="8686800" cy="7132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206240"/>
            <a:ext cx="45720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79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27939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companies show closed date of 1900 — treated as a default value and excluded from closure trend analysis. All figures are based on the provided anonymised dataset.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37562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00183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answer questions on the analysis, methodology or data quality observations.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7315200" cy="36576"/>
          </a:xfrm>
          <a:prstGeom prst="rect">
            <a:avLst/>
          </a:prstGeom>
          <a:solidFill>
            <a:srgbClr val="37562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788920"/>
            <a:ext cx="1645920" cy="1097280"/>
          </a:xfrm>
          <a:prstGeom prst="rect">
            <a:avLst/>
          </a:prstGeom>
          <a:solidFill>
            <a:srgbClr val="0018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Consistent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2788920"/>
            <a:ext cx="1645920" cy="1097280"/>
          </a:xfrm>
          <a:prstGeom prst="rect">
            <a:avLst/>
          </a:prstGeom>
          <a:solidFill>
            <a:srgbClr val="0018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Inc Month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1645920" cy="1097280"/>
          </a:xfrm>
          <a:prstGeom prst="rect">
            <a:avLst/>
          </a:prstGeom>
          <a:solidFill>
            <a:srgbClr val="0018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Closures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2788920"/>
            <a:ext cx="1645920" cy="1097280"/>
          </a:xfrm>
          <a:prstGeom prst="rect">
            <a:avLst/>
          </a:prstGeom>
          <a:solidFill>
            <a:srgbClr val="0018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Growth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0" y="480060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Data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Registration Data Analysis</dc:title>
  <dc:subject>PptxGenJS Presentation</dc:subject>
  <dc:creator>PptxGenJS</dc:creator>
  <cp:lastModifiedBy>PptxGenJS</cp:lastModifiedBy>
  <cp:revision>1</cp:revision>
  <dcterms:created xsi:type="dcterms:W3CDTF">2026-03-29T01:23:00Z</dcterms:created>
  <dcterms:modified xsi:type="dcterms:W3CDTF">2026-03-29T01:23:00Z</dcterms:modified>
</cp:coreProperties>
</file>