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96"/>
    <a:srgbClr val="E91E8C"/>
    <a:srgbClr val="A0259A"/>
    <a:srgbClr val="B85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139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B1AF-3239-E458-8032-337E7F40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0EFC2-A3FF-E106-96E2-8924BA526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A5964-09A8-23F9-62D1-ECD996B29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2CC07-BF05-5053-3850-F804850D7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68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&amp; Repairs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20040" y="2286000"/>
            <a:ext cx="45720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231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GreenSquareAccord  |  BI Engineer Interview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Vyom Khanna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291840"/>
            <a:ext cx="2011680" cy="118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337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3291840"/>
            <a:ext cx="2011680" cy="118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3337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1460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291840"/>
            <a:ext cx="2011680" cy="118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337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£382K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0916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3291840"/>
            <a:ext cx="2011680" cy="118872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337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03720" y="3931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in this presentation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338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0789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Approach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389888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explored and structured the data before building anything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859536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10512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18836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Visuals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built, what each one shows, and why I chose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615184"/>
            <a:ext cx="859536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15184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43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9992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business leader needs to know from this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859536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19856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47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3493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Visuals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8039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else could be built with more time or scope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224528"/>
            <a:ext cx="859536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24528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3525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460857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next steps I would propose to the 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Approach</a:t>
            </a:r>
            <a:endParaRPr lang="en-US" sz="2600" dirty="0">
              <a:solidFill>
                <a:srgbClr val="E91E8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approached the dataset before building anything</a:t>
            </a:r>
            <a:endParaRPr lang="en-US" sz="1100" dirty="0">
              <a:solidFill>
                <a:srgbClr val="E91E8C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420624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63040" y="1115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Profiling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5087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both datasets: 550 properties, 1,200 repairs. Checked for nulls, duplicates and outliers. The dataset was clean with zero missing values and no duplicate records.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0584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143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1115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5087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star schema in Power BI: Repairs as fact table, Properties and DateTable as dimensions. Connected via PropertyID and ReportedDate. DateTable spans Jan 2024 to Mar 2025 to enable time intelligence.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17520"/>
            <a:ext cx="420624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127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Explored portfolio by type, build year, EPC rating and heating type. Identified sustainability risk, ageing stock and geographic patterns using a PostcodeDistrict field extracted from PostcodeSector.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01752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1546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1272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752" y="352044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 volume, cost and duration by category, priority and contractor. Identified cost drivers, efficiency gaps and seasonal demand patterns across the 15-month dataset.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 |  EPC Rating Distribution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efficiency risk across the portfolio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660648"/>
            <a:ext cx="8412480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b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1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 of properties are rated D or below. With Decent Homes 2 and net zero targets approaching, this is the biggest compliance and financial risk in the portfolio.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3657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43CBEA-009C-1C84-762A-1C1BB7833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6039"/>
            <a:ext cx="8823960" cy="27315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 |  Property Type by Heating Type</a:t>
            </a:r>
            <a:endParaRPr lang="en-US" sz="2600" dirty="0">
              <a:solidFill>
                <a:srgbClr val="E91E8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profile and sustainability risk</a:t>
            </a:r>
            <a:endParaRPr lang="en-US" sz="1100" dirty="0">
              <a:solidFill>
                <a:srgbClr val="E91E8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4511040"/>
            <a:ext cx="8260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100" dirty="0" err="1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Maisonettes</a:t>
            </a:r>
            <a:r>
              <a:rPr lang="en-US" sz="11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have the highest heat pump usage at 36%, making them most sustainable. Bungalows rely most on gas at 30%, representing the highest carbon risk.</a:t>
            </a:r>
            <a:endParaRPr lang="en-US" sz="1100" dirty="0"/>
          </a:p>
          <a:p>
            <a:pPr marL="0" indent="0" algn="just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DF77AA2-D8DE-A408-6FA1-4D6FCBFF4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1802"/>
            <a:ext cx="9144000" cy="3319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 |  Repairs Volume and Avg Cost by Category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most repairs happen and where the money goes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373880"/>
            <a:ext cx="8503920" cy="437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1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is highest on both volume (264 jobs) and cost (£464 avg). That double impact makes it the most important category for a preventative program.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4F5351B-E0E7-C26E-1F73-AB888E6F6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5417"/>
            <a:ext cx="9144000" cy="3332665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0AE939E4-1181-67B7-FA01-DC07563734FC}"/>
              </a:ext>
            </a:extLst>
          </p:cNvPr>
          <p:cNvSpPr/>
          <p:nvPr/>
        </p:nvSpPr>
        <p:spPr>
          <a:xfrm>
            <a:off x="0" y="88087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 |  Contractor Performance: Cost vs Time</a:t>
            </a:r>
            <a:endParaRPr lang="en-US" sz="2600" dirty="0">
              <a:solidFill>
                <a:srgbClr val="E91E8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contractors on value for money</a:t>
            </a:r>
            <a:endParaRPr lang="en-US" sz="1100" dirty="0">
              <a:solidFill>
                <a:srgbClr val="E91E8C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" y="4419600"/>
            <a:ext cx="8503920" cy="166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1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100" dirty="0" err="1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ContractorB</a:t>
            </a:r>
            <a:r>
              <a:rPr lang="en-US" sz="11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charges £406 per job, 47% more than A and D at £276-277, with virtually identical completion times of 9 to 11 days.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19CF65-3A17-3D90-F1CE-E51D1D264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05277"/>
            <a:ext cx="8503920" cy="2896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V5  |  Monthly Repair Volume Trend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patterns Jan 2024 to Mar 2025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0980" y="4293108"/>
            <a:ext cx="851154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r>
              <a:rPr lang="en-US" sz="11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Peaks in Jan (90) and Jun (91) suggest seasonal patterns. Oct is lowest (71). March 2025 shows only 58 as the data is incomplete for that month.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3208B96-6C3F-0447-94B6-B85C53A78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1115568"/>
            <a:ext cx="8656320" cy="27553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for Business Leaders</a:t>
            </a:r>
            <a:endParaRPr lang="en-US" sz="2600" dirty="0">
              <a:solidFill>
                <a:srgbClr val="E91E8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is telling us and why it matters</a:t>
            </a:r>
            <a:endParaRPr lang="en-US" sz="1100" dirty="0">
              <a:solidFill>
                <a:srgbClr val="E91E8C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52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1338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Risk: 51% Rated D or Below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60020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 properties at D, E or F. Decent Homes 2 and net zero targets make this the biggest compliance and financial risk. A retrofit programme is urgently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05840"/>
            <a:ext cx="420624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13385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ContractorB is 47% More Expensive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160020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£406 vs £276-277 with identical completion times. This premium costs tens of thousands annually and should be renegotiated or retendered.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017520"/>
            <a:ext cx="4206240" cy="4572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145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Drives Volume and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" y="361188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 jobs at £464 average. Busiest and most expensive category. A proactive inspection programme would reduce reactive demand and lower annual spend.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206240" cy="1828800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2" name="Shape 20"/>
          <p:cNvSpPr/>
          <p:nvPr/>
        </p:nvSpPr>
        <p:spPr>
          <a:xfrm>
            <a:off x="4709160" y="3017520"/>
            <a:ext cx="420624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3145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Peaks in January and June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73752" y="3611880"/>
            <a:ext cx="385876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demand spikes. Pre-booking contractor capacity for these months would reduce response times and emergency call-out costs.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Visuals I Could Have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more time or a larger scope, these would add further value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207008"/>
            <a:ext cx="10972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070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Postcode District Hotspot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140817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PostcodeDistrict (e.g. B23, B1) to show areas with worst EPC or highest repairs. Enables geographic investment prioritisation.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10512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10512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011680"/>
            <a:ext cx="1097280" cy="2560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116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Over 50 Years by Type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2128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BuildYear &lt;= 1976 flags oldest stock. By PropertyType shows which asset class carries most age-related structural risk.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615184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816352"/>
            <a:ext cx="10972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8163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27066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and Cost by Priority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30175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vs Urgent vs Routine on cost and duration. Emergency jobs take only 0.6 days less than Routine, raising SLA compliance questions.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419856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419856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621024"/>
            <a:ext cx="1097280" cy="2560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6210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00200" y="3511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Repairs by Property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00200" y="38221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with 3+ repairs flagged for structural review. Reactive maintenance on failing stock costs more than planned intervention.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4224528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4224528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425696"/>
            <a:ext cx="109728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44256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00200" y="43159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by Property Type and Build Era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00200" y="46268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Joining both datasets to show which combination of type and age drives most spend, informing planned maintenance investment priorities.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Steps</a:t>
            </a:r>
            <a:endParaRPr lang="en-US" sz="2600" dirty="0">
              <a:solidFill>
                <a:srgbClr val="E91E8C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760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proposals based on the analysis</a:t>
            </a:r>
            <a:endParaRPr lang="en-US" sz="1100" dirty="0">
              <a:solidFill>
                <a:srgbClr val="E91E8C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05840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an EPC Retrofit Programme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 283 D/E/F properties by worst rating and oldest build year. Reduces compliance risk and long-term maintenance costs.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810512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810512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5681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1901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Retender or Renegotiate ContractorB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2128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 cost premium with no speed advantage. Competitive retendering or negotiation could save tens of thousands annually.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615184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614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an Electrical Inspection Programme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 jobs at £464 average. Proactive inspections reduce reactive demand, improve safety and lower annual spend.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419856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419856"/>
            <a:ext cx="54864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6616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3511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Resources Around Seasonal Peaks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8221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and June spikes are predictable. Pre-booking contractor capacity reduces response times and call-out costs.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4224528"/>
            <a:ext cx="8686800" cy="713232"/>
          </a:xfrm>
          <a:prstGeom prst="rect">
            <a:avLst/>
          </a:prstGeom>
          <a:solidFill>
            <a:srgbClr val="3D4A5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224528"/>
            <a:ext cx="54864" cy="713232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37083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1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Problem Property Register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6268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 with 3+ repairs should be flagged for structural review rather than continued reactive maintenance.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0F530-8646-4D0D-2FB2-78D42F76B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7BC3D0-A578-B8BC-1CBB-A5C0DD87523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A3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93521A3-4900-2E0E-4E58-A01017E2CEF3}"/>
              </a:ext>
            </a:extLst>
          </p:cNvPr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E41604-42B8-8694-912E-699CEF439AED}"/>
              </a:ext>
            </a:extLst>
          </p:cNvPr>
          <p:cNvSpPr/>
          <p:nvPr/>
        </p:nvSpPr>
        <p:spPr>
          <a:xfrm>
            <a:off x="32004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DAX Measures I created</a:t>
            </a:r>
            <a:endParaRPr lang="en-US" sz="2600" dirty="0"/>
          </a:p>
        </p:txBody>
      </p:sp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8967BEBB-762C-1BFA-FE14-AF031488E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300583"/>
              </p:ext>
            </p:extLst>
          </p:nvPr>
        </p:nvGraphicFramePr>
        <p:xfrm>
          <a:off x="230458" y="1048216"/>
          <a:ext cx="8809464" cy="40221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6488">
                  <a:extLst>
                    <a:ext uri="{9D8B030D-6E8A-4147-A177-3AD203B41FA5}">
                      <a16:colId xmlns:a16="http://schemas.microsoft.com/office/drawing/2014/main" val="4222861867"/>
                    </a:ext>
                  </a:extLst>
                </a:gridCol>
                <a:gridCol w="2936488">
                  <a:extLst>
                    <a:ext uri="{9D8B030D-6E8A-4147-A177-3AD203B41FA5}">
                      <a16:colId xmlns:a16="http://schemas.microsoft.com/office/drawing/2014/main" val="1430757596"/>
                    </a:ext>
                  </a:extLst>
                </a:gridCol>
                <a:gridCol w="2936488">
                  <a:extLst>
                    <a:ext uri="{9D8B030D-6E8A-4147-A177-3AD203B41FA5}">
                      <a16:colId xmlns:a16="http://schemas.microsoft.com/office/drawing/2014/main" val="115264463"/>
                    </a:ext>
                  </a:extLst>
                </a:gridCol>
              </a:tblGrid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Measure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DAX Formula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476730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Total Repairs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COUNTROWS(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Count of all repair jobs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734670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Total Spend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SUM(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[Cost])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Total cost of all repairs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159276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solidFill>
                            <a:schemeClr val="bg1"/>
                          </a:solidFill>
                          <a:effectLst/>
                        </a:rPr>
                        <a:t>Avg</a:t>
                      </a: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 Cost per Job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AVERAGE(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[Cost])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Average cost per repair job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58049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 err="1">
                          <a:solidFill>
                            <a:schemeClr val="bg1"/>
                          </a:solidFill>
                          <a:effectLst/>
                        </a:rPr>
                        <a:t>Avg</a:t>
                      </a: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 Duration Days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AVERAGE(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[</a:t>
                      </a:r>
                      <a:r>
                        <a:rPr lang="en-IN" sz="1100" i="1" kern="100" dirty="0" err="1">
                          <a:effectLst/>
                        </a:rPr>
                        <a:t>JobDurationDays</a:t>
                      </a:r>
                      <a:r>
                        <a:rPr lang="en-IN" sz="1100" i="1" kern="100" dirty="0">
                          <a:effectLst/>
                        </a:rPr>
                        <a:t>])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Average days to complete a job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34369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Total Properties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COUNTROWS(</a:t>
                      </a:r>
                      <a:r>
                        <a:rPr lang="en-IN" sz="1100" i="1" kern="100" dirty="0" err="1">
                          <a:effectLst/>
                        </a:rPr>
                        <a:t>property_dataset</a:t>
                      </a:r>
                      <a:r>
                        <a:rPr lang="en-IN" sz="1100" i="1" kern="100" dirty="0">
                          <a:effectLst/>
                        </a:rPr>
                        <a:t>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Count of all properties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34681"/>
                  </a:ext>
                </a:extLst>
              </a:tr>
              <a:tr h="2284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Repairs per Property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DIVIDE([Total Repairs],[Total Properties],0)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Average repairs per property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09359"/>
                  </a:ext>
                </a:extLst>
              </a:tr>
              <a:tr h="8753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% Emergency Jobs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DIVIDE(CALCULATE(COUNTROWS(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), 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[Priority]="Emergency"),[Total Repairs],0)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% of jobs flagged as Emergency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297717"/>
                  </a:ext>
                </a:extLst>
              </a:tr>
              <a:tr h="6597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% EPC D or Below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DIVIDE(CALCULATE(COUNTROWS(</a:t>
                      </a:r>
                      <a:r>
                        <a:rPr lang="en-IN" sz="1100" i="1" kern="100" dirty="0" err="1">
                          <a:effectLst/>
                        </a:rPr>
                        <a:t>property_dataset</a:t>
                      </a:r>
                      <a:r>
                        <a:rPr lang="en-IN" sz="1100" i="1" kern="100" dirty="0">
                          <a:effectLst/>
                        </a:rPr>
                        <a:t>), </a:t>
                      </a:r>
                      <a:r>
                        <a:rPr lang="en-IN" sz="1100" i="1" kern="100" dirty="0" err="1">
                          <a:effectLst/>
                        </a:rPr>
                        <a:t>property_dataset</a:t>
                      </a:r>
                      <a:r>
                        <a:rPr lang="en-IN" sz="1100" i="1" kern="100" dirty="0">
                          <a:effectLst/>
                        </a:rPr>
                        <a:t>[</a:t>
                      </a:r>
                      <a:r>
                        <a:rPr lang="en-IN" sz="1100" i="1" kern="100" dirty="0" err="1">
                          <a:effectLst/>
                        </a:rPr>
                        <a:t>EPC_Rating</a:t>
                      </a:r>
                      <a:r>
                        <a:rPr lang="en-IN" sz="1100" i="1" kern="100" dirty="0">
                          <a:effectLst/>
                        </a:rPr>
                        <a:t>] IN {"D","E","F"}),[Total Properties],0)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% of properties rated D, E or F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080045"/>
                  </a:ext>
                </a:extLst>
              </a:tr>
              <a:tr h="44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High Cost Repairs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CALCULATE(COUNTROWS(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), </a:t>
                      </a:r>
                      <a:r>
                        <a:rPr lang="en-IN" sz="1100" i="1" kern="100" dirty="0" err="1">
                          <a:effectLst/>
                        </a:rPr>
                        <a:t>repairs_dataset</a:t>
                      </a:r>
                      <a:r>
                        <a:rPr lang="en-IN" sz="1100" i="1" kern="100" dirty="0">
                          <a:effectLst/>
                        </a:rPr>
                        <a:t>[Cost]&gt;1000)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Count of jobs costing over £1,000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5000384"/>
                  </a:ext>
                </a:extLst>
              </a:tr>
              <a:tr h="4440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kern="100" dirty="0">
                          <a:solidFill>
                            <a:schemeClr val="bg1"/>
                          </a:solidFill>
                          <a:effectLst/>
                        </a:rPr>
                        <a:t>Properties Over 50 Yrs</a:t>
                      </a:r>
                      <a:endParaRPr lang="en-IN" sz="1100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i="1" kern="100" dirty="0">
                          <a:effectLst/>
                        </a:rPr>
                        <a:t>CALCULATE(COUNTROWS(</a:t>
                      </a:r>
                      <a:r>
                        <a:rPr lang="en-IN" sz="1100" i="1" kern="100" dirty="0" err="1">
                          <a:effectLst/>
                        </a:rPr>
                        <a:t>property_dataset</a:t>
                      </a:r>
                      <a:r>
                        <a:rPr lang="en-IN" sz="1100" i="1" kern="100" dirty="0">
                          <a:effectLst/>
                        </a:rPr>
                        <a:t>), </a:t>
                      </a:r>
                      <a:r>
                        <a:rPr lang="en-IN" sz="1100" i="1" kern="100" dirty="0" err="1">
                          <a:effectLst/>
                        </a:rPr>
                        <a:t>property_dataset</a:t>
                      </a:r>
                      <a:r>
                        <a:rPr lang="en-IN" sz="1100" i="1" kern="100" dirty="0">
                          <a:effectLst/>
                        </a:rPr>
                        <a:t>[</a:t>
                      </a:r>
                      <a:r>
                        <a:rPr lang="en-IN" sz="1100" i="1" kern="100" dirty="0" err="1">
                          <a:effectLst/>
                        </a:rPr>
                        <a:t>BuildYear</a:t>
                      </a:r>
                      <a:r>
                        <a:rPr lang="en-IN" sz="1100" i="1" kern="100" dirty="0">
                          <a:effectLst/>
                        </a:rPr>
                        <a:t>]&lt;=1976)</a:t>
                      </a:r>
                      <a:endParaRPr lang="en-IN" sz="1100" i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100" b="1" kern="100" dirty="0">
                          <a:effectLst/>
                        </a:rPr>
                        <a:t>Properties older than 50 years</a:t>
                      </a:r>
                      <a:endParaRPr lang="en-IN" sz="11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272" marR="9272" marT="9272" marB="9272" anchor="ctr">
                    <a:solidFill>
                      <a:srgbClr val="00A8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874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5860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3152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to answer any questions on my approach, design choices or the insights I found.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7315200" cy="36576"/>
          </a:xfrm>
          <a:prstGeom prst="rect">
            <a:avLst/>
          </a:prstGeom>
          <a:solidFill>
            <a:srgbClr val="E91E8C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2834640"/>
            <a:ext cx="1645920" cy="109728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834640"/>
            <a:ext cx="1645920" cy="109728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3464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1645920" cy="109728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£382K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834640"/>
            <a:ext cx="1645920" cy="1097280"/>
          </a:xfrm>
          <a:prstGeom prst="rect">
            <a:avLst/>
          </a:prstGeom>
          <a:solidFill>
            <a:srgbClr val="1E2A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80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34290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Visuals Built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Vyom Khanna  |  GreenSquareAccord BI Engineer Interview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1208</Words>
  <Application>Microsoft Office PowerPoint</Application>
  <PresentationFormat>On-screen Show (16:9)</PresentationFormat>
  <Paragraphs>160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GSA Property &amp; Repairs Analysis</dc:title>
  <dc:subject>PptxGenJS Presentation</dc:subject>
  <dc:creator>PptxGenJS</dc:creator>
  <cp:lastModifiedBy>Vyom Khanna</cp:lastModifiedBy>
  <cp:revision>3</cp:revision>
  <dcterms:created xsi:type="dcterms:W3CDTF">2026-03-03T01:00:01Z</dcterms:created>
  <dcterms:modified xsi:type="dcterms:W3CDTF">2026-03-03T12:40:54Z</dcterms:modified>
</cp:coreProperties>
</file>