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oodle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Finance Data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Investment Insights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0292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Loan Applications   |   </a:t>
            </a:r>
            <a:pPr indent="0" marL="0">
              <a:buNone/>
            </a:pPr>
            <a:r>
              <a:rPr lang="en-US" sz="13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Leadership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Vyom Khanna  |  Data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2011680" cy="1463040"/>
          </a:xfrm>
          <a:prstGeom prst="rect">
            <a:avLst/>
          </a:prstGeom>
          <a:solidFill>
            <a:srgbClr val="0D1224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records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051560"/>
            <a:ext cx="2011680" cy="1463040"/>
          </a:xfrm>
          <a:prstGeom prst="rect">
            <a:avLst/>
          </a:prstGeom>
          <a:solidFill>
            <a:srgbClr val="0D1224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64.7%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6,470 approved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2011680" cy="1463040"/>
          </a:xfrm>
          <a:prstGeom prst="rect">
            <a:avLst/>
          </a:prstGeom>
          <a:solidFill>
            <a:srgbClr val="0D1224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47.4%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approved → funded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95160" y="1051560"/>
            <a:ext cx="2011680" cy="1463040"/>
          </a:xfrm>
          <a:prstGeom prst="rect">
            <a:avLst/>
          </a:prstGeom>
          <a:solidFill>
            <a:srgbClr val="0D1224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3,069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9516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9516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30.7% of all apps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customers approve 13% more &amp; convert 12% more than rural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93592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51-65 have the highest approval rate (87.5%) — key demographic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41064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Convertibles drive the highest funded rate (34%) and largest avg loan (£17,179)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288536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61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has negligible impact on conversion — pricing elasticity is 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636008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51-65 customers fund at 50%+ — the clear marketing sweet spot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Application Funnel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530352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960120"/>
            <a:ext cx="3017520" cy="3200400"/>
          </a:xfrm>
          <a:prstGeom prst="rect">
            <a:avLst/>
          </a:prstGeom>
          <a:solidFill>
            <a:srgbClr val="0D1224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600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35.3%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035040" y="19933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applicants are declined — significant volume to recover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24688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47.4%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035040" y="2862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approved customers don't proceed — a major conversion gap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3337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30.7%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35040" y="37307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funded rate means 2 in 3 applicants never convert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Urban vs Rural: A Clear Gap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3035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005840"/>
            <a:ext cx="3200400" cy="1371600"/>
          </a:xfrm>
          <a:prstGeom prst="rect">
            <a:avLst/>
          </a:prstGeom>
          <a:solidFill>
            <a:srgbClr val="0D1224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Urban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216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 </a:t>
            </a:r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72.8%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Funded: </a:t>
            </a:r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4,710 applicants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514600"/>
            <a:ext cx="3200400" cy="1371600"/>
          </a:xfrm>
          <a:prstGeom prst="rect">
            <a:avLst/>
          </a:prstGeom>
          <a:solidFill>
            <a:srgbClr val="0D1224"/>
          </a:solidFill>
          <a:ln w="12700">
            <a:solidFill>
              <a:srgbClr val="8892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Rural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5216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 </a:t>
            </a:r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57.5%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Funded: </a:t>
            </a:r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5,290 applicants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Recommendation: Prioritise urban marketing channels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Urban customers are 65% more likely to fund than rural.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Age: Where Approvals &amp; Funding Are Won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669280" cy="347472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188720"/>
          <a:ext cx="2926080" cy="2377440"/>
        </p:xfrm>
        <a:graphic>
          <a:graphicData uri="http://schemas.openxmlformats.org/drawingml/2006/table">
            <a:tbl>
              <a:tblPr/>
              <a:tblGrid>
                <a:gridCol w="1005840"/>
                <a:gridCol w="960120"/>
                <a:gridCol w="960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Funded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36-50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0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462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36-65 age group represents 78% of all funded loans.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Young applicants (18-25) face a 73.6% decline rate — lowest ROI segment.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Type: Convertibles Lead on Revenue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4864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05840"/>
            <a:ext cx="3017520" cy="1051560"/>
          </a:xfrm>
          <a:prstGeom prst="rect">
            <a:avLst/>
          </a:prstGeom>
          <a:solidFill>
            <a:srgbClr val="0D2A25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51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Convertible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Funded: 34.0%  |  Avg Loan: £17,179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3017520" cy="1051560"/>
          </a:xfrm>
          <a:prstGeom prst="rect">
            <a:avLst/>
          </a:prstGeom>
          <a:solidFill>
            <a:srgbClr val="0D1224"/>
          </a:solidFill>
          <a:ln w="12700">
            <a:solidFill>
              <a:srgbClr val="8892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9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Saloon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Funded: 31.4%  |  Avg Loan: £8,271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3383280"/>
            <a:ext cx="3017520" cy="1051560"/>
          </a:xfrm>
          <a:prstGeom prst="rect">
            <a:avLst/>
          </a:prstGeom>
          <a:solidFill>
            <a:srgbClr val="0D1224"/>
          </a:solidFill>
          <a:ln w="12700">
            <a:solidFill>
              <a:srgbClr val="8892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9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SUV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360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Funded: 27.5%  |  Avg Loan: £10,744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Convertible buyers have the highest funded rate AND 2× the avg loan vs Saloon.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SUVs have the most applicants (38%) but the lowest funded rate.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 vs Conversion: Surprisingly Flat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4864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05840"/>
            <a:ext cx="3017520" cy="3200400"/>
          </a:xfrm>
          <a:prstGeom prst="rect">
            <a:avLst/>
          </a:prstGeom>
          <a:solidFill>
            <a:srgbClr val="0D1224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645920"/>
            <a:ext cx="54864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618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is flat across all APR bands (46.9% – 48.3%)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0" y="2084832"/>
            <a:ext cx="54864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NOT price-sensitive once approved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2523744"/>
            <a:ext cx="54864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496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5-10% APR band has the most volume (2,259 applicants)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0" y="2962656"/>
            <a:ext cx="54864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935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APR does NOT chase away customers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43600" y="3401568"/>
            <a:ext cx="54864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3741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should focus on volume drivers, not APR competitiveness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Sweet Spot: Best Marketing Segments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3035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960120"/>
            <a:ext cx="3200400" cy="3474720"/>
          </a:xfrm>
          <a:prstGeom prst="rect">
            <a:avLst/>
          </a:prstGeom>
          <a:solidFill>
            <a:srgbClr val="0D1224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52160" y="1600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057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4088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51–65 (primary)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Type: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4088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Convertible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52160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Rate: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4088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5216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Overall: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4088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+19.7 ppts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453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Focus spend on Urban 51-65 Convertible buyers.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Secondary: Urban 36-50 Saloon/Convertible segments.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 for Marketing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713232"/>
          </a:xfrm>
          <a:prstGeom prst="rect">
            <a:avLst/>
          </a:prstGeom>
          <a:solidFill>
            <a:srgbClr val="0D1224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069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urban channels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624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customers have 65% higher funded rate. Digital, OOH and geo-targeted spend should prioritise urban postcodes.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713232"/>
          </a:xfrm>
          <a:prstGeom prst="rect">
            <a:avLst/>
          </a:prstGeom>
          <a:solidFill>
            <a:srgbClr val="0D1224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847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1865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36-65 age demographics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1579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group has 81-88% approval rates. Align creatives, messaging and media mix to resonate with this cohort.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713232"/>
          </a:xfrm>
          <a:prstGeom prst="rect">
            <a:avLst/>
          </a:prstGeom>
          <a:solidFill>
            <a:srgbClr val="0D1224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426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2660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Convertible &amp; Saloon offerings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9535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Convertibles yield highest revenue per customer (avg £17,179 loan). Saloon offers balance of volume and conversion.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0D1224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4381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456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35% decline 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749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 in 3 applicants are declined. Improving targeting to higher-creditworthy segments reduces wasted spend.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169664"/>
            <a:ext cx="8412480" cy="713232"/>
          </a:xfrm>
          <a:prstGeom prst="rect">
            <a:avLst/>
          </a:prstGeom>
          <a:solidFill>
            <a:srgbClr val="0D1224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2336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post-approval drop-off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5445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approved customers don't fund. Test re-engagement campaigns, faster decisioning, and nudge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oodle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customers aged 51-65 applying for Convertibles represent the highest-value, highest-converting segment. Focusing marketing investment here — combined with addressing post-approval drop-off — offers the greatest ROI improvement.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by Vyom Khanna  |  10,000 Application Records  |  All workings in accompanying Python script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Oodle Car Finance – Marketing Insights</dc:title>
  <dc:subject>PptxGenJS Presentation</dc:subject>
  <dc:creator>PptxGenJS</dc:creator>
  <cp:lastModifiedBy>PptxGenJS</cp:lastModifiedBy>
  <cp:revision>1</cp:revision>
  <dcterms:created xsi:type="dcterms:W3CDTF">2026-03-16T22:14:15Z</dcterms:created>
  <dcterms:modified xsi:type="dcterms:W3CDTF">2026-03-16T22:14:15Z</dcterms:modified>
</cp:coreProperties>
</file>