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001830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Course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5029200" cy="36576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Executive  |  Interview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Analysis  |  Brand Demand  |  Data Visualisation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Bookings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Events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Utilisation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3749040"/>
            <a:ext cx="2011680" cy="100584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this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87552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 tables covering 1,466 events and 30,996 delegate records across 8 VWG brands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859536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92224"/>
            <a:ext cx="45720" cy="7132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019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865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1762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and lowest performing courses, overbooked events and band breakdown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859536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96896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0662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Demand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books the most, who cancels the most, brand-specific popular courses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859536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01568"/>
            <a:ext cx="45720" cy="7132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1129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7856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insights for senior leadership including P&amp;B anomaly and capacity gaps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206240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31596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5902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actionable proposals to improve training delivery and reduce waste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performance across both datasets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201168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30,996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Bookings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005840"/>
            <a:ext cx="201168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0592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05840"/>
            <a:ext cx="201168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005840"/>
            <a:ext cx="201168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03136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Utilisation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26080"/>
            <a:ext cx="2011680" cy="4572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54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432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292608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2926080"/>
            <a:ext cx="2011680" cy="45720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3154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450592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292608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926080"/>
            <a:ext cx="2011680" cy="45720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154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26864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Overbooked Events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03136" y="2926080"/>
            <a:ext cx="2011680" cy="1737360"/>
          </a:xfrm>
          <a:prstGeom prst="rect">
            <a:avLst/>
          </a:prstGeom>
          <a:solidFill>
            <a:srgbClr val="001830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2926080"/>
            <a:ext cx="2011680" cy="4572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546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03136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Below 70%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performers, underperformers and capacity issues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3200400" cy="39319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320040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by Utilisation Band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283464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481328"/>
            <a:ext cx="54864" cy="7498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 events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16093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53.96%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283464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22576"/>
            <a:ext cx="54864" cy="749808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530 events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2450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283464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63824"/>
            <a:ext cx="54864" cy="749808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186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events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32918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7.91%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283464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05072"/>
            <a:ext cx="54864" cy="749808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59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50%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events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41330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0" y="1005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1371600"/>
            <a:ext cx="5212080" cy="384048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1371600"/>
            <a:ext cx="45720" cy="38404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Electrical Diagnosis — Master Tech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21040" y="1426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0" y="1810512"/>
            <a:ext cx="5212080" cy="384048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1810512"/>
            <a:ext cx="45720" cy="38404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1865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Equipment (39 events)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21040" y="18653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2249424"/>
            <a:ext cx="5212080" cy="384048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2249424"/>
            <a:ext cx="45720" cy="38404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2304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Executive Pre Assessment VC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2688336"/>
            <a:ext cx="5212080" cy="384048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0" y="2688336"/>
            <a:ext cx="45720" cy="38404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 Service Technician Assessment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21040" y="2743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127248"/>
            <a:ext cx="5212080" cy="384048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0" y="3127248"/>
            <a:ext cx="45720" cy="38404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3182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 Infotainment Systems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21040" y="3182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0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Performers — Review Required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0" y="3931920"/>
            <a:ext cx="5212080" cy="2560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0" y="3931920"/>
            <a:ext cx="45720" cy="2560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94760" y="3968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Technician Customer Service Excellence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3968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0" y="4224528"/>
            <a:ext cx="5212080" cy="2560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4224528"/>
            <a:ext cx="45720" cy="2560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94760" y="42611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Diagnosis 1 Referral Training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2611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0" y="4517136"/>
            <a:ext cx="5212080" cy="2560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0" y="4517136"/>
            <a:ext cx="45720" cy="2560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94760" y="4553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Information Systems Referral Training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21040" y="45537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46.7%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0" y="4809744"/>
            <a:ext cx="5212080" cy="2560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0" y="4809744"/>
            <a:ext cx="45720" cy="2560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9476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Fault Finding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Demand Insight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Bookings, completions, cancellations and brand-specific popular courses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39319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420624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by Brand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1444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4447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4447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3749040" cy="18288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1828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1828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 Passenger Cars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2167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8,781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2167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1671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2505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5,080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2505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25054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28437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 Comm Vehicles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2843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34640" y="28437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29000" y="2843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31821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CUPRA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37360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34640" y="31821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29000" y="3182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520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37360" y="35204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34640" y="3520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29000" y="35204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737360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834640" y="3858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29000" y="3858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197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VWG-UK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37360" y="4197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834640" y="4197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29000" y="41970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Brand-Specific Popular Courses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1371600"/>
            <a:ext cx="4206240" cy="43891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1371600"/>
            <a:ext cx="45720" cy="438912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1408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Skoda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0600" y="15910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TRAINING Q4 ELROQ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4672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527 completions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1874520"/>
            <a:ext cx="4206240" cy="43891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1874520"/>
            <a:ext cx="45720" cy="438912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19110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Skoda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00600" y="2093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 &amp; GOGW National Training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46720" y="1965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 completions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2377440"/>
            <a:ext cx="4206240" cy="43891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377440"/>
            <a:ext cx="45720" cy="438912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2414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CUPRA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00600" y="25968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Terramar Product Broadcast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0" y="2468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completions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2880360"/>
            <a:ext cx="4206240" cy="43891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2880360"/>
            <a:ext cx="45720" cy="43891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2916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VWCV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00600" y="30998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New Transporter Product Launch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046720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 completions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383280"/>
            <a:ext cx="4206240" cy="43891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383280"/>
            <a:ext cx="45720" cy="43891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3419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VWCV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800600" y="36027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VWCV Brand Immersion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46720" y="3474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completions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4041648"/>
            <a:ext cx="4206240" cy="914400"/>
          </a:xfrm>
          <a:prstGeom prst="rect">
            <a:avLst/>
          </a:prstGeom>
          <a:solidFill>
            <a:srgbClr val="3D0000"/>
          </a:solidFill>
          <a:ln w="25400">
            <a:solidFill>
              <a:srgbClr val="E4002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0600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P&amp;B Cancellation Alert — 30.0%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800600" y="43708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the portfolio average of 14.9%. 340 cancelled bookings = wasted seat capacity. Immediate root cause investigation recommended.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Booking Trend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2024 to Jul 2025 — 13 months of booking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292608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00397"/>
            <a:ext cx="573962" cy="2131523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24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150034" y="1959329"/>
            <a:ext cx="573962" cy="1972591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3458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97148" y="1707623"/>
            <a:ext cx="573962" cy="2224297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0572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44262" y="2101532"/>
            <a:ext cx="573962" cy="1830388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7686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091375" y="1325880"/>
            <a:ext cx="573962" cy="260604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799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999935" y="868680"/>
            <a:ext cx="7568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8489" y="2236131"/>
            <a:ext cx="573962" cy="1695789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1913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85603" y="2417877"/>
            <a:ext cx="573962" cy="1514043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9027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32717" y="2291643"/>
            <a:ext cx="573962" cy="1640277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6141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679831" y="2317498"/>
            <a:ext cx="573962" cy="1614422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3255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326945" y="2248298"/>
            <a:ext cx="573962" cy="1683622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0369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74058" y="2407231"/>
            <a:ext cx="573962" cy="1524689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7482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621172" y="2268070"/>
            <a:ext cx="573962" cy="1663850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4596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268286" y="2462743"/>
            <a:ext cx="573962" cy="1469177"/>
          </a:xfrm>
          <a:prstGeom prst="rect">
            <a:avLst/>
          </a:prstGeom>
          <a:solidFill>
            <a:srgbClr val="6EA8D4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1710" y="4023360"/>
            <a:ext cx="6471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25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" y="4343400"/>
            <a:ext cx="2834640" cy="68580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343400"/>
            <a:ext cx="283464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2024 Peak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6268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3,427 bookings — CUPRA Terramar launch and VWCV immersion events. Plan additional capacity for future model launch periods.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46120" y="4343400"/>
            <a:ext cx="2834640" cy="68580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4343400"/>
            <a:ext cx="2834640" cy="36576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Monthly Average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46268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~2,100 bookings per month in 2025 vs 2,682 in H2 2024. Monitoring against annual training targets is recommended.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17920" y="4343400"/>
            <a:ext cx="2834640" cy="68580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4343400"/>
            <a:ext cx="2834640" cy="36576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2025 Lowest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6268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1,932 bookings — lowest month in dataset. Likely summer seasonality but should be validated against prior year.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for Senior Leadership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critical insights from the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420624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 Average Utilisation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overall performance — 760 events (54%) at 90-100% utilisation showing healthy technical training demand across the VWG portfolio.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05840"/>
            <a:ext cx="4206240" cy="4572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P&amp;B 30% Cancellation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444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P&amp;B cancels at double the portfolio average. 340 cancelled bookings represent wasted seat capacity and delivery cost requiring immediate investigation.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31720"/>
            <a:ext cx="420624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41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Overbooked 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courses have overbooked events. Diagnostic Equipment (GTB00211P.02) with 39 events at 97.9% is the highest priority for additional sessions.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331720"/>
            <a:ext cx="4206240" cy="45720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41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Events Below 70% Utilisation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770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 of events underperform. Referral training courses consistently score lowest, suggesting demand or scheduling issues to address.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657600"/>
            <a:ext cx="4206240" cy="45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 Outperform F2F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 achieve 92.4% vs 88.3% for Face to Face. Webinars fill more efficiently and should be used more for high-demand technical topics.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657600"/>
            <a:ext cx="4206240" cy="4572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1,648 Single-Brand Courses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courses are attended by only one brand, suggesting limited cross-brand collaboration and potential content duplication opportunities to address.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E5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actionable proposals to improve training 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VWG UK  |  Technical Training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1060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Additional Events for Overbooked Courses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389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GTB00211P.02 and PBSE240724F.01 are consistently overbooked. Adding 5-10 events per year would absorb unmet demand and reduce waiting lists.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792224"/>
            <a:ext cx="868680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792224"/>
            <a:ext cx="45720" cy="713232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6112" y="1865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P&amp;B Cancellation Rate Immediately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194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P&amp;B cancels at 30% — double the portfolio average. A root cause analysis should identify whether this is scheduling, relevance or internal planning issues.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96896"/>
            <a:ext cx="868680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96896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2491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670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Rationalise Low Utilisation Courses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29992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events below 50% utilisation, particularly referral training courses, should be reviewed for demand and whether they should continue to run.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401568"/>
            <a:ext cx="868680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401568"/>
            <a:ext cx="45720" cy="713232"/>
          </a:xfrm>
          <a:prstGeom prst="rect">
            <a:avLst/>
          </a:prstGeom>
          <a:solidFill>
            <a:srgbClr val="FFA50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2958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Webinar Delivery for High-Demand Topics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8039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 achieve 92.4% utilisation vs 88.3% for F2F. Migrating suitable technical courses to webinar format would improve fill rates and reduce cost.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00183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206240"/>
            <a:ext cx="45720" cy="7132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3425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6112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Cross-Brand Training Opportunities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1,648 single-brand courses there is likely significant content overlap. Identifying shared technical topics could improve economies of scale.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001830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1830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answer any questions on the data, methodology or recommendations.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7315200" cy="36576"/>
          </a:xfrm>
          <a:prstGeom prst="rect">
            <a:avLst/>
          </a:prstGeom>
          <a:solidFill>
            <a:srgbClr val="E4002B"/>
          </a:solidFill>
          <a:ln w="12700">
            <a:solidFill>
              <a:srgbClr val="001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Util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2788920"/>
            <a:ext cx="1645920" cy="1097280"/>
          </a:xfrm>
          <a:prstGeom prst="rect">
            <a:avLst/>
          </a:prstGeom>
          <a:solidFill>
            <a:srgbClr val="00183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34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Executive  |  VWG Technical Training Division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2026-03-29T00:42:06Z</dcterms:created>
  <dcterms:modified xsi:type="dcterms:W3CDTF">2026-03-29T00:42:06Z</dcterms:modified>
</cp:coreProperties>
</file>